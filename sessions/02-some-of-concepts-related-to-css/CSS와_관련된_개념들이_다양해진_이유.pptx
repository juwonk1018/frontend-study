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9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96" autoAdjust="0"/>
    <p:restoredTop sz="97449" autoAdjust="0"/>
  </p:normalViewPr>
  <p:slideViewPr>
    <p:cSldViewPr snapToGrid="0" snapToObjects="1">
      <p:cViewPr>
        <p:scale>
          <a:sx n="172" d="100"/>
          <a:sy n="172" d="100"/>
        </p:scale>
        <p:origin x="-136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39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69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8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2791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1607344"/>
            <a:ext cx="7143750" cy="1078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3300" b="1" kern="0" spc="-3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2주차. CSS와 관련된
개념들이 다양해진 이유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321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1143000"/>
            <a:ext cx="66294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들어가며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28675" y="1928813"/>
            <a:ext cx="3523400" cy="27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CSS란?</a:t>
            </a: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웹 페이지를 스타일링할 때 </a:t>
            </a:r>
            <a:r>
              <a:rPr lang="en-US" sz="1400" dirty="0" err="1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사용하는</a:t>
            </a: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</a:t>
            </a: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8675" y="2454548"/>
            <a:ext cx="6953184" cy="526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현대에 들어서는 CSS와 관련된 많은 개념들이 나오게 됨. </a:t>
            </a: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400" dirty="0" err="1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CSS 외에도 </a:t>
            </a:r>
            <a:r>
              <a:rPr 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CSS-Modules, CSS 전처리기, CSS-in-js, Tailwind, </a:t>
            </a:r>
            <a:r>
              <a:rPr 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shadcn</a:t>
            </a:r>
            <a:r>
              <a:rPr lang="en-US" sz="1300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…)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8675" y="3277419"/>
            <a:ext cx="4945265" cy="27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 err="1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</a:t>
            </a:r>
            <a:r>
              <a:rPr lang="ko-KR" alt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개념과</a:t>
            </a: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CSS와 관련된 개념이 왜 이렇게 다양해졌는지 알아보자.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321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1000125"/>
            <a:ext cx="76009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(구) Native CSS의 문제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14350" y="1535906"/>
            <a:ext cx="760095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1. 스코프 - 클래스명은 전역이다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14350" y="1918097"/>
            <a:ext cx="3162728" cy="1707356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089547"/>
            <a:ext cx="28198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header.css */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2282428"/>
            <a:ext cx="28198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73A49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.title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</a:t>
            </a:r>
            <a:r>
              <a:rPr lang="en-US" sz="9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font-size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9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24px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9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9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black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}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2861072"/>
            <a:ext cx="28198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card.css */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3053953"/>
            <a:ext cx="28198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73A49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.title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</a:t>
            </a:r>
            <a:r>
              <a:rPr lang="en-US" sz="9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font-size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9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14px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9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9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gray</a:t>
            </a:r>
            <a:r>
              <a:rPr lang="en-US" sz="9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}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4350" y="3754041"/>
            <a:ext cx="3162728" cy="679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파일을 나눠도 클래스명 공간은 </a:t>
            </a:r>
            <a:r>
              <a:rPr lang="en-US" sz="11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하나로</a:t>
            </a: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합쳐</a:t>
            </a:r>
            <a:r>
              <a:rPr lang="ko-KR" altLang="en-US" sz="11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짐</a:t>
            </a:r>
            <a:r>
              <a:rPr lang="en-US" sz="11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11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1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</a:t>
            </a:r>
            <a:r>
              <a:rPr lang="en-US" sz="11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규모가</a:t>
            </a:r>
            <a:r>
              <a:rPr lang="en-US" sz="11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커질수록 이름 충돌을 팀 전체가 컨벤션(BEM 등)을 통해 억지로 막아야 함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62828" y="1918097"/>
            <a:ext cx="4152472" cy="2590223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40752" y="2089547"/>
            <a:ext cx="38030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&lt;!-- 나중에 로드된 card.css의 .title이 덮어씀 --&gt;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40752" y="2260997"/>
            <a:ext cx="38030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r>
              <a:rPr lang="en-US" sz="800" b="1" dirty="0">
                <a:solidFill>
                  <a:srgbClr val="D73A49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h1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</a:t>
            </a:r>
            <a:r>
              <a:rPr lang="en-US" sz="8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"title"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40752" y="2432447"/>
            <a:ext cx="3803098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이게 24px로 나올까 14px로 나올까?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40752" y="2603897"/>
            <a:ext cx="38030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&lt;/</a:t>
            </a:r>
            <a:r>
              <a:rPr lang="en-US" sz="800" b="1" dirty="0">
                <a:solidFill>
                  <a:srgbClr val="D73A49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h1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321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928688"/>
            <a:ext cx="369331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2. 문법 표현력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14350" y="1257300"/>
            <a:ext cx="3693319" cy="1922562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650" y="1371600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.button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28650" y="1518717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8650" y="1651546"/>
            <a:ext cx="3464719" cy="13997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background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#1d4ed8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28650" y="1798662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28650" y="1931491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.button:hover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28650" y="2078608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8650" y="2211437"/>
            <a:ext cx="3464719" cy="13997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background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#1e40af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관계 표현 불가 */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28650" y="2358554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8650" y="2491383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.link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8650" y="2638499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28650" y="2771329"/>
            <a:ext cx="3464719" cy="13997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#1d4ed8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하드코딩 */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28650" y="2918445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14350" y="3251299"/>
            <a:ext cx="36933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만약 button의 bg를 바꾸려면? 모두 고쳐야 함
- 하드 코딩된 값이라 값이 어떤 의미를 가지는지 알지 못 함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421981" y="928688"/>
            <a:ext cx="369331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3. 동적 상태 반영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21981" y="1257300"/>
            <a:ext cx="3693319" cy="1642616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36281" y="1378744"/>
            <a:ext cx="492416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935269" y="1378744"/>
            <a:ext cx="61547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LikeButton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427685" y="1378744"/>
            <a:ext cx="524286" cy="129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536281" y="1511573"/>
            <a:ext cx="3464719" cy="13997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[liked, setLiked] = useState(</a:t>
            </a: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false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536281" y="1651546"/>
            <a:ext cx="3464719" cy="13997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536281" y="1791519"/>
            <a:ext cx="3464719" cy="13997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className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"like-button"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...&gt;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536281" y="1931491"/>
            <a:ext cx="3464719" cy="13997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536281" y="2078608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536281" y="2211437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.like-button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536281" y="2358554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536281" y="2491383"/>
            <a:ext cx="3464719" cy="13997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gray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liked 상태 참조 불가 */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536281" y="2638499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421981" y="2971354"/>
            <a:ext cx="36933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결국 클래스 토글이나 인라인 스타일 같은 우회가 필요해짐. </a:t>
            </a:r>
            <a:r>
              <a:rPr lang="en-US" sz="900" b="1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이러한 문제 중 어떤 것을, 언제 해소할 것인가?</a:t>
            </a: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에 따라 여러 방법이 나오게 됨.</a:t>
            </a:r>
            <a:endParaRPr lang="en-US" sz="950" dirty="0"/>
          </a:p>
        </p:txBody>
      </p:sp>
      <p:sp>
        <p:nvSpPr>
          <p:cNvPr id="35" name="Text 15"/>
          <p:cNvSpPr/>
          <p:nvPr/>
        </p:nvSpPr>
        <p:spPr>
          <a:xfrm>
            <a:off x="514350" y="4119900"/>
            <a:ext cx="4514347" cy="17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</a:t>
            </a:r>
            <a:r>
              <a:rPr lang="ko-KR" alt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</a:t>
            </a: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이러한</a:t>
            </a: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중 </a:t>
            </a:r>
            <a:r>
              <a:rPr lang="ko-KR" altLang="en-US" sz="950" b="1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것</a:t>
            </a:r>
            <a:r>
              <a:rPr lang="ko-KR" alt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altLang="ko-KR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950" b="1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</a:t>
            </a:r>
            <a:r>
              <a:rPr lang="ko-KR" alt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해소할 것인가</a:t>
            </a:r>
            <a:r>
              <a:rPr lang="en-US" altLang="ko-KR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 </a:t>
            </a:r>
            <a:r>
              <a:rPr lang="ko-KR" alt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따라 여러 방법이 나오게 됨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1285875"/>
            <a:ext cx="66294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컴파일 타임에 해소하는 그룹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07256" y="2071688"/>
            <a:ext cx="6125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위의 세 가지 문제 중 </a:t>
            </a: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문법 표현력, 스코프</a:t>
            </a:r>
            <a:r>
              <a:rPr lang="en-US" sz="16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두 가지 문제를 </a:t>
            </a: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 타임</a:t>
            </a:r>
            <a:r>
              <a:rPr lang="en-US" sz="16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해결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07256" y="2700338"/>
            <a:ext cx="52935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산출물은 Native CSS라서 따로 </a:t>
            </a: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비용은 추가되지 않음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928688"/>
            <a:ext cx="760095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3-1. CSS 전처리기 - 문법 표현력 해결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14350" y="1414463"/>
            <a:ext cx="3162728" cy="413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전처리기가 가진 </a:t>
            </a:r>
            <a:r>
              <a:rPr lang="en-US" sz="10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특별한</a:t>
            </a:r>
            <a:r>
              <a:rPr lang="en-US" sz="10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문법으로</a:t>
            </a:r>
            <a:r>
              <a:rPr lang="en-US" sz="10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10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0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</a:t>
            </a:r>
            <a:r>
              <a:rPr lang="en-US" sz="10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en-US" sz="10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생성하도록 하는 </a:t>
            </a: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14350" y="2014538"/>
            <a:ext cx="31627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전처리기:</a:t>
            </a:r>
            <a:r>
              <a:rPr lang="en-US" sz="10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Sass/SCSS, Less, Stylus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00050" y="3517431"/>
            <a:ext cx="3162728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변수 재사용, 브랜드 컬러 변경 시 한 곳만 수정 가능하며 값들 사이의 관계가 코드로 표현됨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62828" y="1414463"/>
            <a:ext cx="4152472" cy="2597311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40752" y="1585913"/>
            <a:ext cx="380309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variables.scss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40752" y="1745921"/>
            <a:ext cx="380309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$primary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8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#1d4ed8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40752" y="1905930"/>
            <a:ext cx="380309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$primary-dark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8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darken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8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$primary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r>
              <a:rPr lang="en-US" sz="8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10%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140752" y="2225948"/>
            <a:ext cx="380309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.button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40752" y="2385957"/>
            <a:ext cx="3803098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background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8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$primary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40752" y="2545966"/>
            <a:ext cx="3803098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border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8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1px solid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$primary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40752" y="2865983"/>
            <a:ext cx="3803098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&amp;:hover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40752" y="3025992"/>
            <a:ext cx="3803098" cy="160009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background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8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$primary-dark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40752" y="3186001"/>
            <a:ext cx="3803098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140752" y="3346010"/>
            <a:ext cx="380309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40752" y="3666027"/>
            <a:ext cx="380309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.link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</a:t>
            </a:r>
            <a:r>
              <a:rPr lang="en-US" sz="8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8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$primary</a:t>
            </a:r>
            <a:r>
              <a:rPr lang="en-US" sz="8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21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857250"/>
            <a:ext cx="760095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3-2. CSS Modules - 스코프 해결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14350" y="1307306"/>
            <a:ext cx="36933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클래스명을 파일 단위로 해싱해 로컬 스코프로 만드는 </a:t>
            </a: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규약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225032" y="3055237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009242" y="3755101"/>
            <a:ext cx="65" cy="1223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750" dirty="0"/>
          </a:p>
        </p:txBody>
      </p:sp>
      <p:sp>
        <p:nvSpPr>
          <p:cNvPr id="33" name="Text 2"/>
          <p:cNvSpPr/>
          <p:nvPr/>
        </p:nvSpPr>
        <p:spPr>
          <a:xfrm>
            <a:off x="508880" y="1645502"/>
            <a:ext cx="3510576" cy="498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900" b="1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방법</a:t>
            </a:r>
            <a:endParaRPr lang="en-US" altLang="ko-KR" sz="900" b="1" dirty="0" smtClean="0">
              <a:solidFill>
                <a:srgbClr val="5555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1450" indent="-171450" algn="l">
              <a:lnSpc>
                <a:spcPct val="120000"/>
              </a:lnSpc>
              <a:buFontTx/>
              <a:buChar char="-"/>
            </a:pP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</a:t>
            </a:r>
            <a:r>
              <a:rPr lang="en-US" altLang="ko-KR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webpack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경우 </a:t>
            </a:r>
            <a:r>
              <a:rPr lang="en-US" altLang="ko-KR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</a:t>
            </a:r>
            <a:r>
              <a:rPr lang="en-US" altLang="ko-KR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-loader 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altLang="ko-KR" sz="900" dirty="0" smtClean="0">
              <a:solidFill>
                <a:srgbClr val="5555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1450" indent="-171450" algn="l">
              <a:lnSpc>
                <a:spcPct val="120000"/>
              </a:lnSpc>
              <a:buFontTx/>
              <a:buChar char="-"/>
            </a:pPr>
            <a:r>
              <a:rPr 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next.js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경우 별도 설정 없이 </a:t>
            </a:r>
            <a:r>
              <a:rPr lang="en-US" altLang="ko-KR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.module.css 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확장자만으로 내장 지원</a:t>
            </a:r>
            <a:endParaRPr lang="en-US" sz="900" dirty="0"/>
          </a:p>
        </p:txBody>
      </p:sp>
      <p:sp>
        <p:nvSpPr>
          <p:cNvPr id="34" name="Text 2"/>
          <p:cNvSpPr/>
          <p:nvPr/>
        </p:nvSpPr>
        <p:spPr>
          <a:xfrm>
            <a:off x="508880" y="2285190"/>
            <a:ext cx="424796" cy="154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900" b="1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방법</a:t>
            </a:r>
            <a:endParaRPr lang="en-US" sz="900" dirty="0"/>
          </a:p>
        </p:txBody>
      </p:sp>
      <p:sp>
        <p:nvSpPr>
          <p:cNvPr id="36" name="Shape 3"/>
          <p:cNvSpPr/>
          <p:nvPr/>
        </p:nvSpPr>
        <p:spPr>
          <a:xfrm>
            <a:off x="508880" y="2534489"/>
            <a:ext cx="3693319" cy="942752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37" name="Text 4"/>
          <p:cNvSpPr/>
          <p:nvPr/>
        </p:nvSpPr>
        <p:spPr>
          <a:xfrm>
            <a:off x="623180" y="2648789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Header.module.css */</a:t>
            </a:r>
            <a:endParaRPr lang="en-US" sz="750" dirty="0"/>
          </a:p>
        </p:txBody>
      </p:sp>
      <p:sp>
        <p:nvSpPr>
          <p:cNvPr id="38" name="Text 5"/>
          <p:cNvSpPr/>
          <p:nvPr/>
        </p:nvSpPr>
        <p:spPr>
          <a:xfrm>
            <a:off x="623180" y="2788762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.title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</a:t>
            </a: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font-size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24px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}</a:t>
            </a:r>
            <a:endParaRPr lang="en-US" sz="750" dirty="0"/>
          </a:p>
        </p:txBody>
      </p:sp>
      <p:sp>
        <p:nvSpPr>
          <p:cNvPr id="39" name="Text 6"/>
          <p:cNvSpPr/>
          <p:nvPr/>
        </p:nvSpPr>
        <p:spPr>
          <a:xfrm>
            <a:off x="623180" y="3068708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Card.module.css */</a:t>
            </a:r>
            <a:endParaRPr lang="en-US" sz="750" dirty="0"/>
          </a:p>
        </p:txBody>
      </p:sp>
      <p:sp>
        <p:nvSpPr>
          <p:cNvPr id="40" name="Text 7"/>
          <p:cNvSpPr/>
          <p:nvPr/>
        </p:nvSpPr>
        <p:spPr>
          <a:xfrm>
            <a:off x="623180" y="3208681"/>
            <a:ext cx="346471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.title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</a:t>
            </a: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font-size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14px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}</a:t>
            </a:r>
            <a:endParaRPr lang="en-US" sz="750" dirty="0"/>
          </a:p>
        </p:txBody>
      </p:sp>
      <p:sp>
        <p:nvSpPr>
          <p:cNvPr id="41" name="Shape 8"/>
          <p:cNvSpPr/>
          <p:nvPr/>
        </p:nvSpPr>
        <p:spPr>
          <a:xfrm>
            <a:off x="508880" y="3616026"/>
            <a:ext cx="3693319" cy="1393618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42" name="Text 9"/>
          <p:cNvSpPr/>
          <p:nvPr/>
        </p:nvSpPr>
        <p:spPr>
          <a:xfrm>
            <a:off x="508880" y="3616025"/>
            <a:ext cx="3693319" cy="182588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headerStyles </a:t>
            </a: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'./Header.module.css</a:t>
            </a:r>
            <a:r>
              <a:rPr lang="en-US" sz="750" dirty="0" smtClean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altLang="ko-KR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7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cardStyles</a:t>
            </a:r>
            <a:r>
              <a:rPr lang="en-US" altLang="ko-KR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750" dirty="0" smtClean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'./Card.module.css'</a:t>
            </a:r>
            <a:r>
              <a:rPr lang="en-US" altLang="ko-KR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endParaRPr lang="en-US" altLang="ko-KR" sz="750" dirty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 Header() {</a:t>
            </a:r>
          </a:p>
          <a:p>
            <a:pPr>
              <a:lnSpc>
                <a:spcPct val="112000"/>
              </a:lnSpc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return 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r>
              <a:rPr lang="en-US" altLang="ko-KR" sz="7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h1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750" dirty="0" err="1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className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={</a:t>
            </a:r>
            <a:r>
              <a:rPr lang="en-US" altLang="ko-KR" sz="750" dirty="0" err="1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headerStyles.title</a:t>
            </a:r>
            <a:r>
              <a:rPr lang="en-US" altLang="ko-KR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}&gt;{/* Header_title__a1b2 */}&lt;/h1&gt;</a:t>
            </a:r>
            <a:endParaRPr lang="en-US" sz="750" dirty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</a:p>
          <a:p>
            <a:pPr>
              <a:lnSpc>
                <a:spcPct val="112000"/>
              </a:lnSpc>
            </a:pP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 Header() {</a:t>
            </a:r>
          </a:p>
          <a:p>
            <a:pPr>
              <a:lnSpc>
                <a:spcPct val="112000"/>
              </a:lnSpc>
            </a:pP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return &lt;</a:t>
            </a:r>
            <a:r>
              <a:rPr lang="en-US" altLang="ko-KR" sz="7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h1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750" dirty="0" err="1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className</a:t>
            </a:r>
            <a:r>
              <a:rPr lang="en-US" altLang="ko-KR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={</a:t>
            </a:r>
            <a:r>
              <a:rPr lang="en-US" altLang="ko-KR" sz="750" dirty="0" err="1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cardStyles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.title}&gt;{/* Card_title</a:t>
            </a: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__a1b2 */}&lt;/h1&gt;</a:t>
            </a:r>
          </a:p>
          <a:p>
            <a:pPr>
              <a:lnSpc>
                <a:spcPct val="112000"/>
              </a:lnSpc>
            </a:pPr>
            <a:r>
              <a:rPr lang="en-US" altLang="ko-KR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</a:p>
          <a:p>
            <a:pPr>
              <a:lnSpc>
                <a:spcPct val="112000"/>
              </a:lnSpc>
            </a:pPr>
            <a:endParaRPr lang="en-US" sz="750" dirty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endParaRPr lang="en-US" sz="750" dirty="0"/>
          </a:p>
        </p:txBody>
      </p:sp>
      <p:sp>
        <p:nvSpPr>
          <p:cNvPr id="48" name="Text 2"/>
          <p:cNvSpPr/>
          <p:nvPr/>
        </p:nvSpPr>
        <p:spPr>
          <a:xfrm>
            <a:off x="4314825" y="4758607"/>
            <a:ext cx="4417876" cy="1661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타임에 </a:t>
            </a:r>
            <a:r>
              <a:rPr lang="en-US" altLang="ko-KR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.title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각각 고유한 </a:t>
            </a:r>
            <a:r>
              <a:rPr lang="ko-KR" alt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클래스명으로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해싱되므로</a:t>
            </a:r>
            <a:r>
              <a:rPr lang="en-US" altLang="ko-KR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파일이 몇 개든 이름이 겹칠 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일이 없음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21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857250"/>
            <a:ext cx="760095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3-2. CSS Modules - 스코프 해결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14350" y="1307306"/>
            <a:ext cx="2266646" cy="313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85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한계점</a:t>
            </a:r>
            <a:endParaRPr lang="en-US" altLang="ko-KR" sz="850" b="1" dirty="0" smtClean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850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그룹은 동적 상태 반영 문제는 완전히 풀지 못함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3664" y="1782254"/>
            <a:ext cx="3693319" cy="657633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7964" y="1896554"/>
            <a:ext cx="1146148" cy="129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</a:t>
            </a:r>
            <a:r>
              <a:rPr lang="en-US" sz="750" dirty="0" smtClean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LikeButton.module.css </a:t>
            </a:r>
            <a:r>
              <a:rPr lang="en-US" sz="750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*/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87964" y="2036527"/>
            <a:ext cx="934551" cy="129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 smtClean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.default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 </a:t>
            </a:r>
            <a:r>
              <a:rPr lang="en-US" sz="750" dirty="0" smtClean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 smtClean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gray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87964" y="2198600"/>
            <a:ext cx="795089" cy="129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 smtClean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.liked 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 </a:t>
            </a:r>
            <a:r>
              <a:rPr lang="en-US" sz="750" dirty="0" smtClean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750" dirty="0" smtClean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</a:t>
            </a:r>
            <a:r>
              <a:rPr lang="en-US" sz="7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73664" y="2779262"/>
            <a:ext cx="3693319" cy="868814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964" y="2715203"/>
            <a:ext cx="65" cy="1223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87964" y="2862320"/>
            <a:ext cx="36929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95732" y="2857317"/>
            <a:ext cx="492416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styles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82922" y="2862320"/>
            <a:ext cx="246236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410402" y="2862320"/>
            <a:ext cx="153869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'./LikeButton.module.css'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7964" y="3142266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49523" y="3142266"/>
            <a:ext cx="36929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8595" y="3137263"/>
            <a:ext cx="55392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className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66547" y="3142266"/>
            <a:ext cx="147713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={liked ? styles.liked :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2406634" y="3140570"/>
            <a:ext cx="98477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styles.default}&gt;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57958" y="3306526"/>
            <a:ext cx="30003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좋아요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74235" y="3438193"/>
            <a:ext cx="12311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&lt;/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69512" y="3436305"/>
            <a:ext cx="36929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954728" y="3447719"/>
            <a:ext cx="615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73664" y="3880751"/>
            <a:ext cx="3693319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스코프는 해결됐지만, </a:t>
            </a: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"liked에 따라 스타일이 바뀐다"는 로직은 여전히 개발자 몫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endParaRPr lang="en-US" sz="900" dirty="0" smtClean="0">
              <a:solidFill>
                <a:srgbClr val="5555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</a:t>
            </a:r>
            <a:r>
              <a:rPr 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동적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선언적으로 다루고 싶은 </a:t>
            </a:r>
            <a:r>
              <a:rPr lang="en-US" sz="9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니즈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</a:t>
            </a:r>
            <a:r>
              <a:rPr lang="en-US" altLang="ko-KR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방법이 등장하게 됨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2406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821531"/>
            <a:ext cx="760095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런타임에 해소하는 그룹(CSS-in-JS)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14350" y="1243013"/>
            <a:ext cx="760095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이전에는 해소하지 못 했던 </a:t>
            </a: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동적 상태 반영을 해결</a:t>
            </a: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그룹으로, 렌더링되는 순간 스타일을 계산함.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14350" y="1575197"/>
            <a:ext cx="3149333" cy="199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CSS-in-JS:</a:t>
            </a: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styled-compoents, Emotion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14350" y="1881653"/>
            <a:ext cx="3149333" cy="362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props가 곧 스타일 조건이 됨 </a:t>
            </a: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⇒ </a:t>
            </a: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className 조립, style 객체 분기 필요 없어짐.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14350" y="2387408"/>
            <a:ext cx="3149333" cy="362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LikeButton은 런타임에 고유한 </a:t>
            </a:r>
            <a:r>
              <a:rPr lang="en-US" sz="9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클래스명을</a:t>
            </a: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컴포넌트에 </a:t>
            </a:r>
            <a:r>
              <a:rPr lang="en-US" sz="9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붙임</a:t>
            </a: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⇒ </a:t>
            </a:r>
            <a:r>
              <a:rPr lang="en-US" sz="9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스코프 문제도 해결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63708" y="1575197"/>
            <a:ext cx="425159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styled-components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863708" y="1746647"/>
            <a:ext cx="4251592" cy="1384157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63708" y="1746647"/>
            <a:ext cx="4251592" cy="113672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LikeButton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styled.button`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650" dirty="0" smtClean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${props =&gt; (props.liked ?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'red'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'gray'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)};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650" dirty="0" smtClean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font-weight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${props =&gt; (props.liked ?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'bold'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'normal'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)};
`;
</a:t>
            </a: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Like() {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650" dirty="0" err="1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[liked, setLiked] = useState(false);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650" dirty="0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&lt;LikeButton liked={liked}&gt;좋아요&lt;/LikeButton&gt;;
}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3863708" y="3447864"/>
            <a:ext cx="425159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Emotion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863708" y="3619314"/>
            <a:ext cx="4251592" cy="1169368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63708" y="3619314"/>
            <a:ext cx="4251592" cy="124874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Like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({ liked }) 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650" dirty="0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</a:t>
            </a:r>
            <a:b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</a:b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&lt;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 css={css`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color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${liked ?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'red'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'gray'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};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`}&gt;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 </a:t>
            </a:r>
            <a:r>
              <a:rPr lang="en-US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좋아요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/>
            </a:r>
            <a:b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</a:b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&lt;/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b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</a:b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);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}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857250"/>
            <a:ext cx="760095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런타임에 해소하는 그룹(CSS-in-JS) · 한계점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14350" y="1293019"/>
            <a:ext cx="760095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런타임 CSS-in-JS는 동적 상태 반영을 해결했지만, 렌더링 비용과 SSR 방식과의 충돌이라는 부작용을 떠안게 됨.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4369" y="1653778"/>
            <a:ext cx="74509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렌더링 비용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4369" y="1885950"/>
            <a:ext cx="7450931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LikeButton이 리렌더될 때마다 styled-components는 ① 현재 props로 스타일 문자열을 다시 계산하고 ② 이미 생성된 스타일인지 캐시를 </a:t>
            </a:r>
            <a:r>
              <a:rPr lang="en-US" sz="9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확인하고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</a:t>
            </a:r>
            <a:r>
              <a:rPr lang="en-US" sz="80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insertRule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스타일시트에 새 규칙을 밀어 넣는 과정을 반복함.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4369" y="2250281"/>
            <a:ext cx="745093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CSS 그룹은 이 파이프라인을 앱 로드 시 딱 한 번 통과하지만, 이 그룹은 </a:t>
            </a: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렌더마다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통과함. ⇒ 즉, 렌더링 비용이 증가함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4369" y="2546747"/>
            <a:ext cx="74509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SSR 방식과 충돌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4369" y="2778919"/>
            <a:ext cx="8296751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SSR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에서는 서버에서 HTML을 만들 때 렌더링에 필요한 스타일을 수집해서 HTML 응답에 같이 넣어주어야 함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그렇지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않으면 처음 HTML을 받았을 때 CSS가 없어 잠깐 스타일이 없어 보이는 </a:t>
            </a: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FOUC(Flash of Unstyled Content)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발생하며, style registry로 직접 수집 후 주입해야 함.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4369" y="3257550"/>
            <a:ext cx="74509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4369" y="3489722"/>
            <a:ext cx="745093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HTML을 청크 단위로 잘라서 전송하니, 이미 브라우저에 도달한 청크에서 필요한 스타일이 늦게 도착하는 문제가 발생할 수 있음.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4369" y="3786188"/>
            <a:ext cx="74509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RSC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4369" y="4018359"/>
            <a:ext cx="7450931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 Component 환경에서는 스타일시트 생성을 브라우저에서 js를 실행해서 만드는 라이브러리를 사용할 수 없음. 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삽입에 쓰이는 </a:t>
            </a:r>
            <a:r>
              <a:rPr lang="en-US" sz="80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useInsertionEffect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훅이 서버 렌더링 중에는 실행되지 않음 ⇒ Client Component 경계로 감싸야 함.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107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800100"/>
            <a:ext cx="760095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Zero-runtime CSS-in-JS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14350" y="1207294"/>
            <a:ext cx="7600950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런타임 CSS-in-JS는 동적 상태 반영을 해결했지만 비싼 렌더링 비용, RSC 비호환이라는 부작용을 떠안게 됨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0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동적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반영을 해결하면서 이런 문제를 해결할 수 없을까?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8276" y="1568268"/>
            <a:ext cx="37326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⇒ 스타일 자체는 빌드 타임에 정적 CSS로, 동적인 부분만 CSS로 변수로 남기기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4350" y="1925241"/>
            <a:ext cx="37004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Zero-runtime CSS-in-JS &amp;&amp; 해결 방법 · vanilla-extract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14350" y="2125266"/>
            <a:ext cx="3700463" cy="994209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4350" y="2125266"/>
            <a:ext cx="3700463" cy="906082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style, styleVariants } </a:t>
            </a: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'@vanilla-extract/css'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
</a:t>
            </a:r>
            <a:endParaRPr lang="en-US" sz="650" dirty="0" smtClean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650" dirty="0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export </a:t>
            </a: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button = </a:t>
            </a:r>
            <a:r>
              <a:rPr lang="en-US" sz="6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styleVariants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({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default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{ </a:t>
            </a:r>
            <a:r>
              <a:rPr lang="en-US" sz="6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'gray'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fontWeight: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'normal'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},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liked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{ </a:t>
            </a:r>
            <a:r>
              <a:rPr lang="en-US" sz="650" dirty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'red'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fontWeight: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'bold'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},
});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514350" y="3176624"/>
            <a:ext cx="3700463" cy="1696811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4350" y="3176625"/>
            <a:ext cx="3700463" cy="169681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 } </a:t>
            </a:r>
            <a:r>
              <a:rPr lang="en-US" altLang="ko-KR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650" dirty="0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‘./</a:t>
            </a:r>
            <a:r>
              <a:rPr lang="en-US" altLang="ko-KR" sz="650" dirty="0" err="1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likeButton.css.ts</a:t>
            </a:r>
            <a:r>
              <a:rPr lang="en-US" altLang="ko-KR" sz="650" dirty="0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650" dirty="0" smtClean="0">
              <a:solidFill>
                <a:srgbClr val="D73A49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650" dirty="0">
              <a:solidFill>
                <a:srgbClr val="D73A49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650" dirty="0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Like()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b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</a:b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altLang="ko-KR" sz="650" dirty="0" err="1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altLang="ko-KR" sz="650" dirty="0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[liked, </a:t>
            </a:r>
            <a:r>
              <a:rPr lang="en-US" altLang="ko-KR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setLiked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 = </a:t>
            </a:r>
            <a:r>
              <a:rPr lang="en-US" altLang="ko-KR" sz="650" dirty="0" err="1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useState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(false);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 </a:t>
            </a:r>
            <a:r>
              <a:rPr lang="en-US" sz="650" dirty="0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</a:t>
            </a:r>
            <a:b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</a:b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&lt;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 </a:t>
            </a:r>
            <a:endParaRPr lang="en-US" sz="650" dirty="0" smtClean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</a:t>
            </a:r>
            <a:r>
              <a:rPr lang="en-US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className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={liked ? button.liked : </a:t>
            </a:r>
            <a:r>
              <a:rPr lang="en-US" sz="650" dirty="0" err="1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button.default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</a:p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</a:t>
            </a:r>
            <a:r>
              <a:rPr lang="en-US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onClick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={() =&gt; </a:t>
            </a:r>
            <a:r>
              <a:rPr lang="en-US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setLiked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(!liked)}</a:t>
            </a:r>
            <a:endParaRPr lang="en-US" sz="650" dirty="0" smtClean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</a:p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</a:t>
            </a:r>
            <a:r>
              <a:rPr lang="en-US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좋아요</a:t>
            </a:r>
            <a:endParaRPr lang="en-US" sz="650" dirty="0" smtClean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&lt;/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</a:p>
          <a:p>
            <a:pPr>
              <a:lnSpc>
                <a:spcPct val="112000"/>
              </a:lnSpc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)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}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414838" y="1868091"/>
            <a:ext cx="4170362" cy="49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button.liked, button.default는 런타임엔 그냥 미리 계산된 클래스명 문자열. 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⇒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insertRule도, 스타일 재계산도 X. 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⇒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가능한 상태들을 빌드 타임에 미리 다 만들어두고 런타임엔 그 중 하나를 고르기만 하면 됨.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14838" y="2528888"/>
            <a:ext cx="364331" cy="139303"/>
          </a:xfrm>
          <a:prstGeom prst="rect">
            <a:avLst/>
          </a:prstGeom>
          <a:solidFill>
            <a:srgbClr val="8B9296"/>
          </a:solidFill>
          <a:ln/>
        </p:spPr>
      </p:sp>
      <p:sp>
        <p:nvSpPr>
          <p:cNvPr id="14" name="Text 11"/>
          <p:cNvSpPr/>
          <p:nvPr/>
        </p:nvSpPr>
        <p:spPr>
          <a:xfrm>
            <a:off x="4414838" y="2528888"/>
            <a:ext cx="364331" cy="139303"/>
          </a:xfrm>
          <a:prstGeom prst="rect">
            <a:avLst/>
          </a:prstGeom>
          <a:noFill/>
          <a:ln/>
        </p:spPr>
        <p:txBody>
          <a:bodyPr wrap="none" lIns="76581" tIns="17018" rIns="76581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한계점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4414838" y="2725341"/>
            <a:ext cx="3700463" cy="49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임의의 연속적인 값(ex. 마우스 위치 좌표를 그대로 배경색에 반영)처럼 경우의 수를 미리 나열할 수 없는 동적 스타일은 커버할 수 없음. </a:t>
            </a: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90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⇒ </a:t>
            </a: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 커스텀 프로퍼티로 우회하면 되긴 하지만…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14838" y="3343275"/>
            <a:ext cx="3700463" cy="567591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14838" y="3343275"/>
            <a:ext cx="3700463" cy="5675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export const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progressBar = </a:t>
            </a:r>
            <a:r>
              <a:rPr lang="en-US" sz="650" dirty="0">
                <a:solidFill>
                  <a:srgbClr val="6F42C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style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({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650" dirty="0" smtClean="0">
                <a:solidFill>
                  <a:srgbClr val="005CC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width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'var(--progress</a:t>
            </a:r>
            <a:r>
              <a:rPr lang="en-US" sz="650" dirty="0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)'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// </a:t>
            </a:r>
            <a:r>
              <a:rPr lang="ko-KR" alt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값 자체는 런타임에 </a:t>
            </a:r>
            <a:r>
              <a:rPr lang="en-US" altLang="ko-KR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js</a:t>
            </a:r>
            <a:r>
              <a:rPr lang="ko-KR" alt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가 주입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});</a:t>
            </a:r>
          </a:p>
        </p:txBody>
      </p:sp>
      <p:sp>
        <p:nvSpPr>
          <p:cNvPr id="22" name="Shape 13"/>
          <p:cNvSpPr/>
          <p:nvPr/>
        </p:nvSpPr>
        <p:spPr>
          <a:xfrm>
            <a:off x="4414838" y="4030202"/>
            <a:ext cx="3700463" cy="352597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4414838" y="4030202"/>
            <a:ext cx="3700463" cy="352597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div className={progressBar} style={{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'--progress'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`${percent}%` }} /&gt;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928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771525"/>
            <a:ext cx="76009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스타일 추상화를 최소화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14350" y="1160859"/>
            <a:ext cx="7600950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문제는 추상화를 직접하려고 해서 문제였는데, 미리 정의된 유틸리티 클래스를 조합만 하면?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14350" y="1483723"/>
            <a:ext cx="37004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사례 &amp;&amp; 해결 방법 · Tailwind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14350" y="1669461"/>
            <a:ext cx="3700463" cy="923330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669461"/>
            <a:ext cx="3700463" cy="979692"/>
          </a:xfrm>
          <a:prstGeom prst="rect">
            <a:avLst/>
          </a:prstGeom>
          <a:noFill/>
          <a:ln/>
        </p:spPr>
        <p:txBody>
          <a:bodyPr wrap="square" lIns="110617" tIns="110617" rIns="110617" bIns="110617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LikeButton({liked}) {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650" dirty="0" smtClean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 className={liked ?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'text-red-500 font-bold'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: 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'text-gray-500 font-normal'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}&gt;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</a:t>
            </a:r>
            <a:r>
              <a:rPr lang="en-US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좋아요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&lt;/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}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4350" y="2707540"/>
            <a:ext cx="3700463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text-red-500, font-bold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처럼 미리 만들어진 스타일을 고르기만 하면 됨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362" y="3005931"/>
            <a:ext cx="37004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골칫거리를 어떻게 해결?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35794" y="3158992"/>
            <a:ext cx="35790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스코프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35794" y="3294723"/>
            <a:ext cx="3579019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애초에 해당 문제가 발생하지 않음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35794" y="3524718"/>
            <a:ext cx="35790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문법 표현력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35794" y="3660448"/>
            <a:ext cx="3579019" cy="871649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794" y="3660449"/>
            <a:ext cx="3579019" cy="871649"/>
          </a:xfrm>
          <a:prstGeom prst="rect">
            <a:avLst/>
          </a:prstGeom>
          <a:noFill/>
          <a:ln/>
        </p:spPr>
        <p:txBody>
          <a:bodyPr wrap="square" lIns="110617" tIns="110617" rIns="110617" bIns="110617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/* globals.css */
@theme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--color-primary: #1d4ed8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&lt;button className=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"bg-primary hover:bg-primary/90"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&gt;저장&lt;/button&gt;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536281" y="1426573"/>
            <a:ext cx="35790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동적 상태 반영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36281" y="1562305"/>
            <a:ext cx="3579019" cy="1732418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36281" y="1562305"/>
            <a:ext cx="3579019" cy="1735988"/>
          </a:xfrm>
          <a:prstGeom prst="rect">
            <a:avLst/>
          </a:prstGeom>
          <a:noFill/>
          <a:ln/>
        </p:spPr>
        <p:txBody>
          <a:bodyPr wrap="square" lIns="110617" tIns="110617" rIns="110617" bIns="110617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clsx </a:t>
            </a:r>
            <a:r>
              <a:rPr lang="en-US" sz="650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50" dirty="0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</a:t>
            </a:r>
            <a:r>
              <a:rPr lang="en-US" sz="650" dirty="0" err="1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clsx</a:t>
            </a:r>
            <a:r>
              <a:rPr lang="en-US" sz="650" dirty="0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650" dirty="0" smtClean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 </a:t>
            </a:r>
            <a:r>
              <a:rPr lang="en-US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LikeButton</a:t>
            </a: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({ liked, disabled }) {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return (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&lt;button</a:t>
            </a:r>
          </a:p>
          <a:p>
            <a:pPr>
              <a:lnSpc>
                <a:spcPct val="108000"/>
              </a:lnSpc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</a:t>
            </a:r>
            <a:r>
              <a:rPr lang="en-US" altLang="ko-KR" sz="650" dirty="0" err="1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className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={</a:t>
            </a:r>
            <a:r>
              <a:rPr lang="en-US" altLang="ko-KR" sz="650" dirty="0" err="1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clsx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altLang="ko-KR" sz="650" dirty="0" smtClean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'px-4 </a:t>
            </a:r>
            <a:r>
              <a:rPr lang="en-US" altLang="ko-KR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py-2 rounded'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
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  liked 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? </a:t>
            </a:r>
            <a:r>
              <a:rPr lang="en-US" altLang="ko-KR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'text-red-500 font-bold'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: </a:t>
            </a:r>
            <a:r>
              <a:rPr lang="en-US" altLang="ko-KR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'text-gray-500'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
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  disabled 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&amp;&amp; </a:t>
            </a:r>
            <a:r>
              <a:rPr lang="en-US" altLang="ko-KR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'opacity-50 cursor-not-allowed'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)}</a:t>
            </a:r>
          </a:p>
          <a:p>
            <a:pPr>
              <a:lnSpc>
                <a:spcPct val="108000"/>
              </a:lnSpc>
            </a:pP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&gt;</a:t>
            </a:r>
          </a:p>
          <a:p>
            <a:pPr>
              <a:lnSpc>
                <a:spcPct val="108000"/>
              </a:lnSpc>
            </a:pP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</a:t>
            </a:r>
            <a:r>
              <a:rPr lang="en-US" altLang="ko-KR" sz="650" dirty="0" err="1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좋아요</a:t>
            </a:r>
            <a:endParaRPr lang="en-US" altLang="ko-KR" sz="650" dirty="0" smtClean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>
              <a:lnSpc>
                <a:spcPct val="108000"/>
              </a:lnSpc>
            </a:pP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altLang="ko-KR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&lt;/</a:t>
            </a:r>
            <a:r>
              <a:rPr lang="en-US" altLang="ko-KR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button&gt;</a:t>
            </a:r>
            <a:endParaRPr lang="en-US" altLang="ko-KR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);</a:t>
            </a:r>
            <a:endParaRPr lang="en-US" sz="650" dirty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 smtClean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650" dirty="0">
              <a:solidFill>
                <a:srgbClr val="333333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557713" y="3359016"/>
            <a:ext cx="3579019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zero-runtime의 variant 패턴과 동일한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tailwind는 모든 유틸리티가 미리 정의되어 있음)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36281" y="3950817"/>
            <a:ext cx="35790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비용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36281" y="4086548"/>
            <a:ext cx="4495752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 시점에 PostCSS 플러그인이 소스 코드를 스캔, 실제로 쓰인 클래스만 CSS로 뽑아냄. </a:t>
            </a:r>
            <a:endParaRPr lang="en-US" sz="850" dirty="0" smtClean="0">
              <a:solidFill>
                <a:srgbClr val="5555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8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런타임</a:t>
            </a:r>
            <a: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 실행이 전혀 없으니 컴파일에 해소하는 그룹처럼 비용이 낮고, RSC 환경에서도 무리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없이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</a:t>
            </a:r>
            <a: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771525"/>
            <a:ext cx="76009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스타일 추상화를 최소화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14350" y="1278148"/>
            <a:ext cx="364331" cy="139303"/>
          </a:xfrm>
          <a:prstGeom prst="rect">
            <a:avLst/>
          </a:prstGeom>
          <a:solidFill>
            <a:srgbClr val="8B9296"/>
          </a:solidFill>
          <a:ln/>
        </p:spPr>
      </p:sp>
      <p:sp>
        <p:nvSpPr>
          <p:cNvPr id="23" name="Text 20"/>
          <p:cNvSpPr/>
          <p:nvPr/>
        </p:nvSpPr>
        <p:spPr>
          <a:xfrm>
            <a:off x="514350" y="1278148"/>
            <a:ext cx="364331" cy="139303"/>
          </a:xfrm>
          <a:prstGeom prst="rect">
            <a:avLst/>
          </a:prstGeom>
          <a:noFill/>
          <a:ln/>
        </p:spPr>
        <p:txBody>
          <a:bodyPr wrap="none" lIns="76581" tIns="17018" rIns="76581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한계점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14350" y="1474601"/>
            <a:ext cx="4711585" cy="294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깊은</a:t>
            </a:r>
            <a:r>
              <a:rPr lang="en-US" sz="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00" b="1" dirty="0" err="1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마크업</a:t>
            </a:r>
            <a:endParaRPr lang="en-US" sz="850" dirty="0">
              <a:solidFill>
                <a:srgbClr val="5555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- </a:t>
            </a:r>
            <a:r>
              <a:rPr lang="en-US" sz="850" dirty="0" err="1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가독성과</a:t>
            </a:r>
            <a: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관심사 분리(마크업, 스타일 분리) 논쟁이 새로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생김</a:t>
            </a:r>
            <a:r>
              <a:rPr lang="en-US" sz="850" dirty="0" smtClean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</p:txBody>
      </p:sp>
      <p:sp>
        <p:nvSpPr>
          <p:cNvPr id="25" name="Shape 22"/>
          <p:cNvSpPr/>
          <p:nvPr/>
        </p:nvSpPr>
        <p:spPr>
          <a:xfrm>
            <a:off x="618546" y="1826255"/>
            <a:ext cx="4679432" cy="331437"/>
          </a:xfrm>
          <a:prstGeom prst="rect">
            <a:avLst/>
          </a:prstGeom>
          <a:solidFill>
            <a:srgbClr val="FFFFFF"/>
          </a:solidFill>
          <a:ln w="9144">
            <a:solidFill>
              <a:srgbClr val="CFCFC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8546" y="1826255"/>
            <a:ext cx="4679432" cy="331437"/>
          </a:xfrm>
          <a:prstGeom prst="rect">
            <a:avLst/>
          </a:prstGeom>
          <a:noFill/>
          <a:ln/>
        </p:spPr>
        <p:txBody>
          <a:bodyPr wrap="square" lIns="110617" tIns="110617" rIns="110617" bIns="110617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&lt;div className=</a:t>
            </a:r>
            <a:r>
              <a:rPr lang="en-US" sz="650" dirty="0">
                <a:solidFill>
                  <a:srgbClr val="032F6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"flex items-center justify-between px-4 py-2 border-b border-gray-200 hover:bg-gray-50"</a:t>
            </a:r>
            <a:r>
              <a:rPr lang="en-US" sz="6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endParaRPr lang="en-US" sz="650" dirty="0"/>
          </a:p>
        </p:txBody>
      </p:sp>
      <p:sp>
        <p:nvSpPr>
          <p:cNvPr id="29" name="Text 0"/>
          <p:cNvSpPr/>
          <p:nvPr/>
        </p:nvSpPr>
        <p:spPr>
          <a:xfrm>
            <a:off x="514350" y="557213"/>
            <a:ext cx="10419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 smtClean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750" dirty="0"/>
          </a:p>
        </p:txBody>
      </p:sp>
      <p:sp>
        <p:nvSpPr>
          <p:cNvPr id="30" name="Text 21"/>
          <p:cNvSpPr/>
          <p:nvPr/>
        </p:nvSpPr>
        <p:spPr>
          <a:xfrm>
            <a:off x="514350" y="2272199"/>
            <a:ext cx="4711585" cy="1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ko-KR" altLang="en-US" sz="80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완전히 임의의 동적인 값은 여전히 </a:t>
            </a:r>
            <a:r>
              <a:rPr lang="ko-KR" altLang="en-US" sz="800" b="1" dirty="0" err="1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</a:t>
            </a:r>
            <a:r>
              <a:rPr lang="ko-KR" altLang="en-US" sz="80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80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</a:t>
            </a:r>
            <a:r>
              <a:rPr lang="ko-KR" altLang="en-US" sz="80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이나 </a:t>
            </a:r>
            <a:r>
              <a:rPr lang="ko-KR" altLang="en-US" sz="800" b="1" dirty="0" err="1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임의값</a:t>
            </a:r>
            <a:r>
              <a:rPr lang="ko-KR" altLang="en-US" sz="80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문법</a:t>
            </a:r>
            <a:r>
              <a:rPr lang="en-US" altLang="ko-KR" sz="80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(w-[137px])</a:t>
            </a:r>
            <a:r>
              <a:rPr lang="ko-KR" altLang="en-US" sz="800" b="1" dirty="0" smtClean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우회해야</a:t>
            </a:r>
            <a:endParaRPr lang="en-US" sz="850" dirty="0" smtClean="0">
              <a:solidFill>
                <a:srgbClr val="5555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2512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57213"/>
            <a:ext cx="105798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 smtClean="0">
                <a:solidFill>
                  <a:srgbClr val="777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1000125" y="607330"/>
            <a:ext cx="7143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결론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00125" y="1393143"/>
            <a:ext cx="7143750" cy="2206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뭐 </a:t>
            </a:r>
            <a:r>
              <a:rPr lang="en-US" sz="1400" dirty="0" err="1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쓸까요</a:t>
            </a: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</a:p>
          <a:p>
            <a:pPr marL="0" indent="0" algn="ctr">
              <a:lnSpc>
                <a:spcPct val="128000"/>
              </a:lnSpc>
              <a:buNone/>
            </a:pPr>
            <a:endParaRPr lang="en-US" sz="1400" dirty="0" smtClean="0">
              <a:solidFill>
                <a:srgbClr val="444444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400" dirty="0" err="1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정답은</a:t>
            </a: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없음.
</a:t>
            </a: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규모, RSC 채택 여부, 디자인 시스템 성숙도, 동적 스타일 요구치</a:t>
            </a: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등을
</a:t>
            </a:r>
            <a:r>
              <a:rPr lang="en-US" sz="1400" dirty="0" err="1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종합적으로</a:t>
            </a: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고려해야</a:t>
            </a:r>
            <a:r>
              <a:rPr lang="ko-KR" alt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</a:t>
            </a:r>
            <a:r>
              <a:rPr 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>
              <a:solidFill>
                <a:srgbClr val="444444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심지어 지금은 </a:t>
            </a:r>
            <a:r>
              <a:rPr lang="en-US" altLang="ko-KR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CSS</a:t>
            </a:r>
            <a:r>
              <a:rPr lang="ko-KR" alt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 많이 발전해서 선택지 폭이 더 넓어짐</a:t>
            </a:r>
            <a:r>
              <a:rPr lang="en-US" altLang="ko-KR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ctr">
              <a:lnSpc>
                <a:spcPct val="128000"/>
              </a:lnSpc>
              <a:buNone/>
            </a:pPr>
            <a:endParaRPr lang="en-US" sz="1400" dirty="0">
              <a:solidFill>
                <a:srgbClr val="444444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각각의 특징을 파악해서 적합한 </a:t>
            </a:r>
            <a:r>
              <a:rPr lang="en-US" altLang="ko-KR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</a:t>
            </a:r>
            <a:r>
              <a:rPr lang="ko-KR" alt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개인</a:t>
            </a:r>
            <a:r>
              <a:rPr lang="en-US" altLang="ko-KR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프로젝트에 활용할 수 있도록 하자</a:t>
            </a:r>
            <a:r>
              <a:rPr lang="en-US" altLang="ko-KR" sz="1400" dirty="0" smtClean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 smtClean="0">
              <a:solidFill>
                <a:srgbClr val="444444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1126</Words>
  <Application>Microsoft Office PowerPoint</Application>
  <PresentationFormat>화면 슬라이드 쇼(16:9)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Fira Code</vt:lpstr>
      <vt:lpstr>Fira Code SemiBold</vt:lpstr>
      <vt:lpstr>Pretendard</vt:lpstr>
      <vt:lpstr>맑은 고딕</vt:lpstr>
      <vt:lpstr>Arial</vt:lpstr>
      <vt:lpstr>Calibri</vt:lpstr>
      <vt:lpstr>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dhvpffldj92</cp:lastModifiedBy>
  <cp:revision>9</cp:revision>
  <dcterms:created xsi:type="dcterms:W3CDTF">2026-09-03T10:55:03Z</dcterms:created>
  <dcterms:modified xsi:type="dcterms:W3CDTF">2026-09-06T11:38:38Z</dcterms:modified>
</cp:coreProperties>
</file>